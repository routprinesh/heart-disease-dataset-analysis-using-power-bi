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150C3-3D3C-11F0-9569-D976FF136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3D9C38-D9E8-6607-4259-A019F59A8A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4E73A0-50CC-5293-C8A4-9CAE65312362}"/>
              </a:ext>
            </a:extLst>
          </p:cNvPr>
          <p:cNvSpPr>
            <a:spLocks noGrp="1"/>
          </p:cNvSpPr>
          <p:nvPr>
            <p:ph type="dt" sz="half" idx="10"/>
          </p:nvPr>
        </p:nvSpPr>
        <p:spPr/>
        <p:txBody>
          <a:bodyPr/>
          <a:lstStyle/>
          <a:p>
            <a:fld id="{25FFEAF2-3ED6-4D5E-9549-0968AE771E82}" type="datetimeFigureOut">
              <a:rPr lang="en-IN" smtClean="0"/>
              <a:t>30-01-2026</a:t>
            </a:fld>
            <a:endParaRPr lang="en-IN"/>
          </a:p>
        </p:txBody>
      </p:sp>
      <p:sp>
        <p:nvSpPr>
          <p:cNvPr id="5" name="Footer Placeholder 4">
            <a:extLst>
              <a:ext uri="{FF2B5EF4-FFF2-40B4-BE49-F238E27FC236}">
                <a16:creationId xmlns:a16="http://schemas.microsoft.com/office/drawing/2014/main" id="{8A4A2DB6-E888-83F1-2920-8E0FA72FDD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A5533D-A9E3-754D-3BB2-F744D3AA08D9}"/>
              </a:ext>
            </a:extLst>
          </p:cNvPr>
          <p:cNvSpPr>
            <a:spLocks noGrp="1"/>
          </p:cNvSpPr>
          <p:nvPr>
            <p:ph type="sldNum" sz="quarter" idx="12"/>
          </p:nvPr>
        </p:nvSpPr>
        <p:spPr/>
        <p:txBody>
          <a:bodyPr/>
          <a:lstStyle/>
          <a:p>
            <a:fld id="{630F4DBD-3A52-4177-81E8-9BEEA3ACBDAD}" type="slidenum">
              <a:rPr lang="en-IN" smtClean="0"/>
              <a:t>‹#›</a:t>
            </a:fld>
            <a:endParaRPr lang="en-IN"/>
          </a:p>
        </p:txBody>
      </p:sp>
    </p:spTree>
    <p:extLst>
      <p:ext uri="{BB962C8B-B14F-4D97-AF65-F5344CB8AC3E}">
        <p14:creationId xmlns:p14="http://schemas.microsoft.com/office/powerpoint/2010/main" val="2544031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862CB-2C99-3319-36BE-694F7FF1D0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2BB378-93B3-5AEA-E65D-2C93FAEBCA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ACCCEC-46B9-D0DF-81F4-F896D05D02DE}"/>
              </a:ext>
            </a:extLst>
          </p:cNvPr>
          <p:cNvSpPr>
            <a:spLocks noGrp="1"/>
          </p:cNvSpPr>
          <p:nvPr>
            <p:ph type="dt" sz="half" idx="10"/>
          </p:nvPr>
        </p:nvSpPr>
        <p:spPr/>
        <p:txBody>
          <a:bodyPr/>
          <a:lstStyle/>
          <a:p>
            <a:fld id="{25FFEAF2-3ED6-4D5E-9549-0968AE771E82}" type="datetimeFigureOut">
              <a:rPr lang="en-IN" smtClean="0"/>
              <a:t>30-01-2026</a:t>
            </a:fld>
            <a:endParaRPr lang="en-IN"/>
          </a:p>
        </p:txBody>
      </p:sp>
      <p:sp>
        <p:nvSpPr>
          <p:cNvPr id="5" name="Footer Placeholder 4">
            <a:extLst>
              <a:ext uri="{FF2B5EF4-FFF2-40B4-BE49-F238E27FC236}">
                <a16:creationId xmlns:a16="http://schemas.microsoft.com/office/drawing/2014/main" id="{92CC4874-2028-3CC9-743D-D56D7F1424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DAFB78-6AE3-D5D2-E9CE-0431423AA65B}"/>
              </a:ext>
            </a:extLst>
          </p:cNvPr>
          <p:cNvSpPr>
            <a:spLocks noGrp="1"/>
          </p:cNvSpPr>
          <p:nvPr>
            <p:ph type="sldNum" sz="quarter" idx="12"/>
          </p:nvPr>
        </p:nvSpPr>
        <p:spPr/>
        <p:txBody>
          <a:bodyPr/>
          <a:lstStyle/>
          <a:p>
            <a:fld id="{630F4DBD-3A52-4177-81E8-9BEEA3ACBDAD}" type="slidenum">
              <a:rPr lang="en-IN" smtClean="0"/>
              <a:t>‹#›</a:t>
            </a:fld>
            <a:endParaRPr lang="en-IN"/>
          </a:p>
        </p:txBody>
      </p:sp>
    </p:spTree>
    <p:extLst>
      <p:ext uri="{BB962C8B-B14F-4D97-AF65-F5344CB8AC3E}">
        <p14:creationId xmlns:p14="http://schemas.microsoft.com/office/powerpoint/2010/main" val="3172518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3F8EA-8BFC-041D-F2FE-DCC08F381D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1908972-CCEC-9857-CAEC-EB8D2FDD93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72A602-87CF-DBA1-1672-367DFDB0B917}"/>
              </a:ext>
            </a:extLst>
          </p:cNvPr>
          <p:cNvSpPr>
            <a:spLocks noGrp="1"/>
          </p:cNvSpPr>
          <p:nvPr>
            <p:ph type="dt" sz="half" idx="10"/>
          </p:nvPr>
        </p:nvSpPr>
        <p:spPr/>
        <p:txBody>
          <a:bodyPr/>
          <a:lstStyle/>
          <a:p>
            <a:fld id="{25FFEAF2-3ED6-4D5E-9549-0968AE771E82}" type="datetimeFigureOut">
              <a:rPr lang="en-IN" smtClean="0"/>
              <a:t>30-01-2026</a:t>
            </a:fld>
            <a:endParaRPr lang="en-IN"/>
          </a:p>
        </p:txBody>
      </p:sp>
      <p:sp>
        <p:nvSpPr>
          <p:cNvPr id="5" name="Footer Placeholder 4">
            <a:extLst>
              <a:ext uri="{FF2B5EF4-FFF2-40B4-BE49-F238E27FC236}">
                <a16:creationId xmlns:a16="http://schemas.microsoft.com/office/drawing/2014/main" id="{875E7FE2-5251-4F52-C79D-3C943CD668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02943B-504E-013C-4867-662CD088A7D4}"/>
              </a:ext>
            </a:extLst>
          </p:cNvPr>
          <p:cNvSpPr>
            <a:spLocks noGrp="1"/>
          </p:cNvSpPr>
          <p:nvPr>
            <p:ph type="sldNum" sz="quarter" idx="12"/>
          </p:nvPr>
        </p:nvSpPr>
        <p:spPr/>
        <p:txBody>
          <a:bodyPr/>
          <a:lstStyle/>
          <a:p>
            <a:fld id="{630F4DBD-3A52-4177-81E8-9BEEA3ACBDAD}" type="slidenum">
              <a:rPr lang="en-IN" smtClean="0"/>
              <a:t>‹#›</a:t>
            </a:fld>
            <a:endParaRPr lang="en-IN"/>
          </a:p>
        </p:txBody>
      </p:sp>
    </p:spTree>
    <p:extLst>
      <p:ext uri="{BB962C8B-B14F-4D97-AF65-F5344CB8AC3E}">
        <p14:creationId xmlns:p14="http://schemas.microsoft.com/office/powerpoint/2010/main" val="2352996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60D7-30FE-7D23-3197-28A019115F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3F3DD8-2504-2BF4-1B0C-6922713353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CC4530F-741B-BDDB-1E4C-D3368736E4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733951-D797-825D-3138-1ECCDE3AE347}"/>
              </a:ext>
            </a:extLst>
          </p:cNvPr>
          <p:cNvSpPr>
            <a:spLocks noGrp="1"/>
          </p:cNvSpPr>
          <p:nvPr>
            <p:ph type="dt" sz="half" idx="10"/>
          </p:nvPr>
        </p:nvSpPr>
        <p:spPr/>
        <p:txBody>
          <a:bodyPr/>
          <a:lstStyle/>
          <a:p>
            <a:fld id="{25FFEAF2-3ED6-4D5E-9549-0968AE771E82}" type="datetimeFigureOut">
              <a:rPr lang="en-IN" smtClean="0"/>
              <a:t>30-01-2026</a:t>
            </a:fld>
            <a:endParaRPr lang="en-IN"/>
          </a:p>
        </p:txBody>
      </p:sp>
      <p:sp>
        <p:nvSpPr>
          <p:cNvPr id="6" name="Footer Placeholder 5">
            <a:extLst>
              <a:ext uri="{FF2B5EF4-FFF2-40B4-BE49-F238E27FC236}">
                <a16:creationId xmlns:a16="http://schemas.microsoft.com/office/drawing/2014/main" id="{072C3919-B0A1-62A1-59C5-F59DD36B57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98DD4A-5225-3191-A276-E37E883E9161}"/>
              </a:ext>
            </a:extLst>
          </p:cNvPr>
          <p:cNvSpPr>
            <a:spLocks noGrp="1"/>
          </p:cNvSpPr>
          <p:nvPr>
            <p:ph type="sldNum" sz="quarter" idx="12"/>
          </p:nvPr>
        </p:nvSpPr>
        <p:spPr/>
        <p:txBody>
          <a:bodyPr/>
          <a:lstStyle/>
          <a:p>
            <a:fld id="{630F4DBD-3A52-4177-81E8-9BEEA3ACBDAD}" type="slidenum">
              <a:rPr lang="en-IN" smtClean="0"/>
              <a:t>‹#›</a:t>
            </a:fld>
            <a:endParaRPr lang="en-IN"/>
          </a:p>
        </p:txBody>
      </p:sp>
    </p:spTree>
    <p:extLst>
      <p:ext uri="{BB962C8B-B14F-4D97-AF65-F5344CB8AC3E}">
        <p14:creationId xmlns:p14="http://schemas.microsoft.com/office/powerpoint/2010/main" val="573115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83DCD-785F-B45C-12E8-369EECCA8DE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77F089-7041-9848-783E-E3F6B5099F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3890D4-0D5D-B411-B6A8-438653D15A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4B51CF-0ECD-E962-BBAE-493F2CDCE4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3AF573-C246-8697-5BD1-B778C43FE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B58A74-104A-7A8E-31F8-5105D9F70D00}"/>
              </a:ext>
            </a:extLst>
          </p:cNvPr>
          <p:cNvSpPr>
            <a:spLocks noGrp="1"/>
          </p:cNvSpPr>
          <p:nvPr>
            <p:ph type="dt" sz="half" idx="10"/>
          </p:nvPr>
        </p:nvSpPr>
        <p:spPr/>
        <p:txBody>
          <a:bodyPr/>
          <a:lstStyle/>
          <a:p>
            <a:fld id="{25FFEAF2-3ED6-4D5E-9549-0968AE771E82}" type="datetimeFigureOut">
              <a:rPr lang="en-IN" smtClean="0"/>
              <a:t>30-01-2026</a:t>
            </a:fld>
            <a:endParaRPr lang="en-IN"/>
          </a:p>
        </p:txBody>
      </p:sp>
      <p:sp>
        <p:nvSpPr>
          <p:cNvPr id="8" name="Footer Placeholder 7">
            <a:extLst>
              <a:ext uri="{FF2B5EF4-FFF2-40B4-BE49-F238E27FC236}">
                <a16:creationId xmlns:a16="http://schemas.microsoft.com/office/drawing/2014/main" id="{1888D8C7-D916-F5D3-58FA-5765A98675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DA211F9-1B5B-B1A9-F925-FC56139AC9CB}"/>
              </a:ext>
            </a:extLst>
          </p:cNvPr>
          <p:cNvSpPr>
            <a:spLocks noGrp="1"/>
          </p:cNvSpPr>
          <p:nvPr>
            <p:ph type="sldNum" sz="quarter" idx="12"/>
          </p:nvPr>
        </p:nvSpPr>
        <p:spPr/>
        <p:txBody>
          <a:bodyPr/>
          <a:lstStyle/>
          <a:p>
            <a:fld id="{630F4DBD-3A52-4177-81E8-9BEEA3ACBDAD}" type="slidenum">
              <a:rPr lang="en-IN" smtClean="0"/>
              <a:t>‹#›</a:t>
            </a:fld>
            <a:endParaRPr lang="en-IN"/>
          </a:p>
        </p:txBody>
      </p:sp>
    </p:spTree>
    <p:extLst>
      <p:ext uri="{BB962C8B-B14F-4D97-AF65-F5344CB8AC3E}">
        <p14:creationId xmlns:p14="http://schemas.microsoft.com/office/powerpoint/2010/main" val="1515452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E6F9D-F0B2-0703-D339-6E2D45824F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C869FF-CCC4-F82D-4A90-C6B61CA6B4C3}"/>
              </a:ext>
            </a:extLst>
          </p:cNvPr>
          <p:cNvSpPr>
            <a:spLocks noGrp="1"/>
          </p:cNvSpPr>
          <p:nvPr>
            <p:ph type="dt" sz="half" idx="10"/>
          </p:nvPr>
        </p:nvSpPr>
        <p:spPr/>
        <p:txBody>
          <a:bodyPr/>
          <a:lstStyle/>
          <a:p>
            <a:fld id="{25FFEAF2-3ED6-4D5E-9549-0968AE771E82}" type="datetimeFigureOut">
              <a:rPr lang="en-IN" smtClean="0"/>
              <a:t>30-01-2026</a:t>
            </a:fld>
            <a:endParaRPr lang="en-IN"/>
          </a:p>
        </p:txBody>
      </p:sp>
      <p:sp>
        <p:nvSpPr>
          <p:cNvPr id="4" name="Footer Placeholder 3">
            <a:extLst>
              <a:ext uri="{FF2B5EF4-FFF2-40B4-BE49-F238E27FC236}">
                <a16:creationId xmlns:a16="http://schemas.microsoft.com/office/drawing/2014/main" id="{84CE4862-55EE-9DD9-9451-AB6455BE93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457AD5C-512B-831A-A881-F9F41DEF19EC}"/>
              </a:ext>
            </a:extLst>
          </p:cNvPr>
          <p:cNvSpPr>
            <a:spLocks noGrp="1"/>
          </p:cNvSpPr>
          <p:nvPr>
            <p:ph type="sldNum" sz="quarter" idx="12"/>
          </p:nvPr>
        </p:nvSpPr>
        <p:spPr/>
        <p:txBody>
          <a:bodyPr/>
          <a:lstStyle/>
          <a:p>
            <a:fld id="{630F4DBD-3A52-4177-81E8-9BEEA3ACBDAD}" type="slidenum">
              <a:rPr lang="en-IN" smtClean="0"/>
              <a:t>‹#›</a:t>
            </a:fld>
            <a:endParaRPr lang="en-IN"/>
          </a:p>
        </p:txBody>
      </p:sp>
    </p:spTree>
    <p:extLst>
      <p:ext uri="{BB962C8B-B14F-4D97-AF65-F5344CB8AC3E}">
        <p14:creationId xmlns:p14="http://schemas.microsoft.com/office/powerpoint/2010/main" val="4197517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1A29DA-1324-48DB-9AB8-0C56EF344A7A}"/>
              </a:ext>
            </a:extLst>
          </p:cNvPr>
          <p:cNvSpPr>
            <a:spLocks noGrp="1"/>
          </p:cNvSpPr>
          <p:nvPr>
            <p:ph type="dt" sz="half" idx="10"/>
          </p:nvPr>
        </p:nvSpPr>
        <p:spPr/>
        <p:txBody>
          <a:bodyPr/>
          <a:lstStyle/>
          <a:p>
            <a:fld id="{25FFEAF2-3ED6-4D5E-9549-0968AE771E82}" type="datetimeFigureOut">
              <a:rPr lang="en-IN" smtClean="0"/>
              <a:t>30-01-2026</a:t>
            </a:fld>
            <a:endParaRPr lang="en-IN"/>
          </a:p>
        </p:txBody>
      </p:sp>
      <p:sp>
        <p:nvSpPr>
          <p:cNvPr id="3" name="Footer Placeholder 2">
            <a:extLst>
              <a:ext uri="{FF2B5EF4-FFF2-40B4-BE49-F238E27FC236}">
                <a16:creationId xmlns:a16="http://schemas.microsoft.com/office/drawing/2014/main" id="{71B44692-4F62-4B75-7475-E6CC8362197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A152196-0354-E3C1-47E5-10228A4F2C12}"/>
              </a:ext>
            </a:extLst>
          </p:cNvPr>
          <p:cNvSpPr>
            <a:spLocks noGrp="1"/>
          </p:cNvSpPr>
          <p:nvPr>
            <p:ph type="sldNum" sz="quarter" idx="12"/>
          </p:nvPr>
        </p:nvSpPr>
        <p:spPr/>
        <p:txBody>
          <a:bodyPr/>
          <a:lstStyle/>
          <a:p>
            <a:fld id="{630F4DBD-3A52-4177-81E8-9BEEA3ACBDAD}" type="slidenum">
              <a:rPr lang="en-IN" smtClean="0"/>
              <a:t>‹#›</a:t>
            </a:fld>
            <a:endParaRPr lang="en-IN"/>
          </a:p>
        </p:txBody>
      </p:sp>
    </p:spTree>
    <p:extLst>
      <p:ext uri="{BB962C8B-B14F-4D97-AF65-F5344CB8AC3E}">
        <p14:creationId xmlns:p14="http://schemas.microsoft.com/office/powerpoint/2010/main" val="4203530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55AE9-5B24-A9DC-5D64-68CAB3CC3D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47F9D4-63BD-5C73-B404-BED44C1AA6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82F21F-8955-508A-33AB-866BAD499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69C237-5851-01A5-850E-755F4CFD049C}"/>
              </a:ext>
            </a:extLst>
          </p:cNvPr>
          <p:cNvSpPr>
            <a:spLocks noGrp="1"/>
          </p:cNvSpPr>
          <p:nvPr>
            <p:ph type="dt" sz="half" idx="10"/>
          </p:nvPr>
        </p:nvSpPr>
        <p:spPr/>
        <p:txBody>
          <a:bodyPr/>
          <a:lstStyle/>
          <a:p>
            <a:fld id="{25FFEAF2-3ED6-4D5E-9549-0968AE771E82}" type="datetimeFigureOut">
              <a:rPr lang="en-IN" smtClean="0"/>
              <a:t>30-01-2026</a:t>
            </a:fld>
            <a:endParaRPr lang="en-IN"/>
          </a:p>
        </p:txBody>
      </p:sp>
      <p:sp>
        <p:nvSpPr>
          <p:cNvPr id="6" name="Footer Placeholder 5">
            <a:extLst>
              <a:ext uri="{FF2B5EF4-FFF2-40B4-BE49-F238E27FC236}">
                <a16:creationId xmlns:a16="http://schemas.microsoft.com/office/drawing/2014/main" id="{05DCE3EB-1643-E015-FB9E-061C7C08F4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C656FB-8936-681F-FC11-860E860C263C}"/>
              </a:ext>
            </a:extLst>
          </p:cNvPr>
          <p:cNvSpPr>
            <a:spLocks noGrp="1"/>
          </p:cNvSpPr>
          <p:nvPr>
            <p:ph type="sldNum" sz="quarter" idx="12"/>
          </p:nvPr>
        </p:nvSpPr>
        <p:spPr/>
        <p:txBody>
          <a:bodyPr/>
          <a:lstStyle/>
          <a:p>
            <a:fld id="{630F4DBD-3A52-4177-81E8-9BEEA3ACBDAD}" type="slidenum">
              <a:rPr lang="en-IN" smtClean="0"/>
              <a:t>‹#›</a:t>
            </a:fld>
            <a:endParaRPr lang="en-IN"/>
          </a:p>
        </p:txBody>
      </p:sp>
    </p:spTree>
    <p:extLst>
      <p:ext uri="{BB962C8B-B14F-4D97-AF65-F5344CB8AC3E}">
        <p14:creationId xmlns:p14="http://schemas.microsoft.com/office/powerpoint/2010/main" val="3812899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BAAE4-C809-7F7E-00F9-EDED2FF5D4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944E6D-A1DE-5C7B-2D6D-C9E70EB89D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56D7CA4-C625-065C-6263-A4B062807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C8AE2E-C47D-3593-885F-8F88FA3B2848}"/>
              </a:ext>
            </a:extLst>
          </p:cNvPr>
          <p:cNvSpPr>
            <a:spLocks noGrp="1"/>
          </p:cNvSpPr>
          <p:nvPr>
            <p:ph type="dt" sz="half" idx="10"/>
          </p:nvPr>
        </p:nvSpPr>
        <p:spPr/>
        <p:txBody>
          <a:bodyPr/>
          <a:lstStyle/>
          <a:p>
            <a:fld id="{25FFEAF2-3ED6-4D5E-9549-0968AE771E82}" type="datetimeFigureOut">
              <a:rPr lang="en-IN" smtClean="0"/>
              <a:t>30-01-2026</a:t>
            </a:fld>
            <a:endParaRPr lang="en-IN"/>
          </a:p>
        </p:txBody>
      </p:sp>
      <p:sp>
        <p:nvSpPr>
          <p:cNvPr id="6" name="Footer Placeholder 5">
            <a:extLst>
              <a:ext uri="{FF2B5EF4-FFF2-40B4-BE49-F238E27FC236}">
                <a16:creationId xmlns:a16="http://schemas.microsoft.com/office/drawing/2014/main" id="{169170A4-B998-AE96-479E-5DB9A652E6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8B5350-C47F-3D5A-F731-2AB4C7CA520D}"/>
              </a:ext>
            </a:extLst>
          </p:cNvPr>
          <p:cNvSpPr>
            <a:spLocks noGrp="1"/>
          </p:cNvSpPr>
          <p:nvPr>
            <p:ph type="sldNum" sz="quarter" idx="12"/>
          </p:nvPr>
        </p:nvSpPr>
        <p:spPr/>
        <p:txBody>
          <a:bodyPr/>
          <a:lstStyle/>
          <a:p>
            <a:fld id="{630F4DBD-3A52-4177-81E8-9BEEA3ACBDAD}" type="slidenum">
              <a:rPr lang="en-IN" smtClean="0"/>
              <a:t>‹#›</a:t>
            </a:fld>
            <a:endParaRPr lang="en-IN"/>
          </a:p>
        </p:txBody>
      </p:sp>
    </p:spTree>
    <p:extLst>
      <p:ext uri="{BB962C8B-B14F-4D97-AF65-F5344CB8AC3E}">
        <p14:creationId xmlns:p14="http://schemas.microsoft.com/office/powerpoint/2010/main" val="2042503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84008-0C00-EDCC-7143-3E847FE20E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AF44F4E-6A19-889F-6C4B-BF10859511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024410-6B55-B64A-A906-2D9AAC3E51F6}"/>
              </a:ext>
            </a:extLst>
          </p:cNvPr>
          <p:cNvSpPr>
            <a:spLocks noGrp="1"/>
          </p:cNvSpPr>
          <p:nvPr>
            <p:ph type="dt" sz="half" idx="10"/>
          </p:nvPr>
        </p:nvSpPr>
        <p:spPr/>
        <p:txBody>
          <a:bodyPr/>
          <a:lstStyle/>
          <a:p>
            <a:fld id="{25FFEAF2-3ED6-4D5E-9549-0968AE771E82}" type="datetimeFigureOut">
              <a:rPr lang="en-IN" smtClean="0"/>
              <a:t>30-01-2026</a:t>
            </a:fld>
            <a:endParaRPr lang="en-IN"/>
          </a:p>
        </p:txBody>
      </p:sp>
      <p:sp>
        <p:nvSpPr>
          <p:cNvPr id="5" name="Footer Placeholder 4">
            <a:extLst>
              <a:ext uri="{FF2B5EF4-FFF2-40B4-BE49-F238E27FC236}">
                <a16:creationId xmlns:a16="http://schemas.microsoft.com/office/drawing/2014/main" id="{398115A9-2C3A-3120-E6D0-D9132DD01D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27A893-6FA0-F817-A47C-B9ABE5F616EA}"/>
              </a:ext>
            </a:extLst>
          </p:cNvPr>
          <p:cNvSpPr>
            <a:spLocks noGrp="1"/>
          </p:cNvSpPr>
          <p:nvPr>
            <p:ph type="sldNum" sz="quarter" idx="12"/>
          </p:nvPr>
        </p:nvSpPr>
        <p:spPr/>
        <p:txBody>
          <a:bodyPr/>
          <a:lstStyle/>
          <a:p>
            <a:fld id="{630F4DBD-3A52-4177-81E8-9BEEA3ACBDAD}" type="slidenum">
              <a:rPr lang="en-IN" smtClean="0"/>
              <a:t>‹#›</a:t>
            </a:fld>
            <a:endParaRPr lang="en-IN"/>
          </a:p>
        </p:txBody>
      </p:sp>
    </p:spTree>
    <p:extLst>
      <p:ext uri="{BB962C8B-B14F-4D97-AF65-F5344CB8AC3E}">
        <p14:creationId xmlns:p14="http://schemas.microsoft.com/office/powerpoint/2010/main" val="1387336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F64322-B207-A4A1-3566-7D18DA1035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D41299-52EE-7A23-42D6-C291C675B5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AB6A25-B64C-A477-1F44-2808FADE4913}"/>
              </a:ext>
            </a:extLst>
          </p:cNvPr>
          <p:cNvSpPr>
            <a:spLocks noGrp="1"/>
          </p:cNvSpPr>
          <p:nvPr>
            <p:ph type="dt" sz="half" idx="10"/>
          </p:nvPr>
        </p:nvSpPr>
        <p:spPr/>
        <p:txBody>
          <a:bodyPr/>
          <a:lstStyle/>
          <a:p>
            <a:fld id="{25FFEAF2-3ED6-4D5E-9549-0968AE771E82}" type="datetimeFigureOut">
              <a:rPr lang="en-IN" smtClean="0"/>
              <a:t>30-01-2026</a:t>
            </a:fld>
            <a:endParaRPr lang="en-IN"/>
          </a:p>
        </p:txBody>
      </p:sp>
      <p:sp>
        <p:nvSpPr>
          <p:cNvPr id="5" name="Footer Placeholder 4">
            <a:extLst>
              <a:ext uri="{FF2B5EF4-FFF2-40B4-BE49-F238E27FC236}">
                <a16:creationId xmlns:a16="http://schemas.microsoft.com/office/drawing/2014/main" id="{12E6ED9D-A2CC-965E-15AA-BB089673C7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B96940-A61D-39A5-284A-6DE342789140}"/>
              </a:ext>
            </a:extLst>
          </p:cNvPr>
          <p:cNvSpPr>
            <a:spLocks noGrp="1"/>
          </p:cNvSpPr>
          <p:nvPr>
            <p:ph type="sldNum" sz="quarter" idx="12"/>
          </p:nvPr>
        </p:nvSpPr>
        <p:spPr/>
        <p:txBody>
          <a:bodyPr/>
          <a:lstStyle/>
          <a:p>
            <a:fld id="{630F4DBD-3A52-4177-81E8-9BEEA3ACBDAD}" type="slidenum">
              <a:rPr lang="en-IN" smtClean="0"/>
              <a:t>‹#›</a:t>
            </a:fld>
            <a:endParaRPr lang="en-IN"/>
          </a:p>
        </p:txBody>
      </p:sp>
    </p:spTree>
    <p:extLst>
      <p:ext uri="{BB962C8B-B14F-4D97-AF65-F5344CB8AC3E}">
        <p14:creationId xmlns:p14="http://schemas.microsoft.com/office/powerpoint/2010/main" val="3749792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271323-0306-6D34-E30B-553BB66212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7467BE-733A-1D41-05E8-3520506D94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6E8C7B-CFF1-4518-907B-F11F78B87B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FFEAF2-3ED6-4D5E-9549-0968AE771E82}" type="datetimeFigureOut">
              <a:rPr lang="en-IN" smtClean="0"/>
              <a:t>30-01-2026</a:t>
            </a:fld>
            <a:endParaRPr lang="en-IN"/>
          </a:p>
        </p:txBody>
      </p:sp>
      <p:sp>
        <p:nvSpPr>
          <p:cNvPr id="5" name="Footer Placeholder 4">
            <a:extLst>
              <a:ext uri="{FF2B5EF4-FFF2-40B4-BE49-F238E27FC236}">
                <a16:creationId xmlns:a16="http://schemas.microsoft.com/office/drawing/2014/main" id="{9B3BA8B3-116B-A549-CFF7-8333A8EFD1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0D77F5E-5FCA-8BEF-5978-A299AFB5F5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0F4DBD-3A52-4177-81E8-9BEEA3ACBDAD}" type="slidenum">
              <a:rPr lang="en-IN" smtClean="0"/>
              <a:t>‹#›</a:t>
            </a:fld>
            <a:endParaRPr lang="en-IN"/>
          </a:p>
        </p:txBody>
      </p:sp>
    </p:spTree>
    <p:extLst>
      <p:ext uri="{BB962C8B-B14F-4D97-AF65-F5344CB8AC3E}">
        <p14:creationId xmlns:p14="http://schemas.microsoft.com/office/powerpoint/2010/main" val="1169996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jpe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E8A69-B604-BE1C-708B-1C1C3D62622E}"/>
              </a:ext>
            </a:extLst>
          </p:cNvPr>
          <p:cNvSpPr>
            <a:spLocks noGrp="1"/>
          </p:cNvSpPr>
          <p:nvPr>
            <p:ph type="ctrTitle"/>
          </p:nvPr>
        </p:nvSpPr>
        <p:spPr>
          <a:xfrm>
            <a:off x="511278" y="491612"/>
            <a:ext cx="11218606" cy="723234"/>
          </a:xfrm>
        </p:spPr>
        <p:txBody>
          <a:bodyPr>
            <a:normAutofit/>
          </a:bodyPr>
          <a:lstStyle/>
          <a:p>
            <a:r>
              <a:rPr lang="en-US" sz="4000" dirty="0">
                <a:solidFill>
                  <a:srgbClr val="FF0000"/>
                </a:solidFill>
                <a:highlight>
                  <a:srgbClr val="00FFFF"/>
                </a:highlight>
                <a:latin typeface="Times New Roman" panose="02020603050405020304" pitchFamily="18" charset="0"/>
                <a:cs typeface="Times New Roman" panose="02020603050405020304" pitchFamily="18" charset="0"/>
              </a:rPr>
              <a:t>HEART DISEASE DATASET ANALYSIS</a:t>
            </a:r>
            <a:endParaRPr lang="en-IN" sz="4000" dirty="0">
              <a:solidFill>
                <a:srgbClr val="FF0000"/>
              </a:solidFill>
              <a:highlight>
                <a:srgbClr val="00FFFF"/>
              </a:highligh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879E85B-7A85-D850-37EA-6E801E4B0E47}"/>
              </a:ext>
            </a:extLst>
          </p:cNvPr>
          <p:cNvSpPr>
            <a:spLocks noGrp="1"/>
          </p:cNvSpPr>
          <p:nvPr>
            <p:ph type="subTitle" idx="1"/>
          </p:nvPr>
        </p:nvSpPr>
        <p:spPr>
          <a:xfrm>
            <a:off x="9075174" y="5447070"/>
            <a:ext cx="2654709" cy="1042219"/>
          </a:xfrm>
        </p:spPr>
        <p:txBody>
          <a:bodyPr/>
          <a:lstStyle/>
          <a:p>
            <a:pPr algn="r"/>
            <a:r>
              <a:rPr lang="en-US" dirty="0">
                <a:solidFill>
                  <a:srgbClr val="C00000"/>
                </a:solidFill>
                <a:latin typeface="Times New Roman" panose="02020603050405020304" pitchFamily="18" charset="0"/>
                <a:cs typeface="Times New Roman" panose="02020603050405020304" pitchFamily="18" charset="0"/>
              </a:rPr>
              <a:t>PRINESH ROUT</a:t>
            </a:r>
          </a:p>
          <a:p>
            <a:pPr algn="r"/>
            <a:r>
              <a:rPr lang="en-US" dirty="0">
                <a:solidFill>
                  <a:srgbClr val="C00000"/>
                </a:solidFill>
                <a:latin typeface="Times New Roman" panose="02020603050405020304" pitchFamily="18" charset="0"/>
                <a:cs typeface="Times New Roman" panose="02020603050405020304" pitchFamily="18" charset="0"/>
              </a:rPr>
              <a:t>DA &amp; DS</a:t>
            </a:r>
            <a:endParaRPr lang="en-IN" dirty="0">
              <a:solidFill>
                <a:srgbClr val="C00000"/>
              </a:solidFill>
              <a:latin typeface="Times New Roman" panose="02020603050405020304" pitchFamily="18" charset="0"/>
              <a:cs typeface="Times New Roman" panose="02020603050405020304" pitchFamily="18" charset="0"/>
            </a:endParaRPr>
          </a:p>
        </p:txBody>
      </p:sp>
      <p:pic>
        <p:nvPicPr>
          <p:cNvPr id="1028" name="Picture 4" descr="3D Heart designs, themes, templates and ...">
            <a:extLst>
              <a:ext uri="{FF2B5EF4-FFF2-40B4-BE49-F238E27FC236}">
                <a16:creationId xmlns:a16="http://schemas.microsoft.com/office/drawing/2014/main" id="{6A58D147-04F2-4A74-346A-FC9C0BBCC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3176" y="1740310"/>
            <a:ext cx="3677264" cy="268420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est 3D Heart Anatomy Animation">
            <a:extLst>
              <a:ext uri="{FF2B5EF4-FFF2-40B4-BE49-F238E27FC236}">
                <a16:creationId xmlns:a16="http://schemas.microsoft.com/office/drawing/2014/main" id="{52C5DB53-019F-A33D-52ED-8BB16A512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78" y="1740310"/>
            <a:ext cx="3824748" cy="268420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uman Heart 3d Stock Video Footage for ...">
            <a:extLst>
              <a:ext uri="{FF2B5EF4-FFF2-40B4-BE49-F238E27FC236}">
                <a16:creationId xmlns:a16="http://schemas.microsoft.com/office/drawing/2014/main" id="{786B0246-C37D-2D8F-DF76-3EFE0DFADE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27921" y="1740310"/>
            <a:ext cx="3510118" cy="268420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34A909D-CACA-E94C-37F4-302054644D98}"/>
              </a:ext>
            </a:extLst>
          </p:cNvPr>
          <p:cNvSpPr txBox="1"/>
          <p:nvPr/>
        </p:nvSpPr>
        <p:spPr>
          <a:xfrm>
            <a:off x="462117" y="5535391"/>
            <a:ext cx="4532671" cy="830997"/>
          </a:xfrm>
          <a:prstGeom prst="rect">
            <a:avLst/>
          </a:prstGeom>
          <a:noFill/>
        </p:spPr>
        <p:txBody>
          <a:bodyPr wrap="square" rtlCol="0">
            <a:spAutoFit/>
          </a:bodyPr>
          <a:lstStyle/>
          <a:p>
            <a:r>
              <a:rPr lang="en-US" sz="2400" dirty="0">
                <a:solidFill>
                  <a:srgbClr val="C00000"/>
                </a:solidFill>
                <a:latin typeface="Times New Roman" panose="02020603050405020304" pitchFamily="18" charset="0"/>
                <a:cs typeface="Times New Roman" panose="02020603050405020304" pitchFamily="18" charset="0"/>
              </a:rPr>
              <a:t>POWER BI </a:t>
            </a:r>
          </a:p>
          <a:p>
            <a:r>
              <a:rPr lang="en-US" sz="2400" dirty="0">
                <a:solidFill>
                  <a:srgbClr val="C00000"/>
                </a:solidFill>
                <a:latin typeface="Times New Roman" panose="02020603050405020304" pitchFamily="18" charset="0"/>
                <a:cs typeface="Times New Roman" panose="02020603050405020304" pitchFamily="18" charset="0"/>
              </a:rPr>
              <a:t>REINFORCEMENT PROJECT</a:t>
            </a:r>
            <a:endParaRPr lang="en-IN" sz="2400" dirty="0">
              <a:solidFill>
                <a:srgbClr val="C00000"/>
              </a:solidFill>
              <a:latin typeface="Times New Roman" panose="02020603050405020304" pitchFamily="18" charset="0"/>
              <a:cs typeface="Times New Roman" panose="02020603050405020304" pitchFamily="18" charset="0"/>
            </a:endParaRPr>
          </a:p>
        </p:txBody>
      </p:sp>
      <p:pic>
        <p:nvPicPr>
          <p:cNvPr id="5" name="Picture 2" descr="Heart beating 3D models download,3D ...">
            <a:extLst>
              <a:ext uri="{FF2B5EF4-FFF2-40B4-BE49-F238E27FC236}">
                <a16:creationId xmlns:a16="http://schemas.microsoft.com/office/drawing/2014/main" id="{7217C1C1-5A48-911E-4E7C-7403D21E74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7993" y="401316"/>
            <a:ext cx="972652" cy="97265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eart beating 3D models download,3D ...">
            <a:extLst>
              <a:ext uri="{FF2B5EF4-FFF2-40B4-BE49-F238E27FC236}">
                <a16:creationId xmlns:a16="http://schemas.microsoft.com/office/drawing/2014/main" id="{A391A11F-4428-237B-6322-25CAAD475B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71355" y="401316"/>
            <a:ext cx="972652" cy="972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809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191A-8B47-2BBC-3751-860AB9C17835}"/>
              </a:ext>
            </a:extLst>
          </p:cNvPr>
          <p:cNvSpPr>
            <a:spLocks noGrp="1"/>
          </p:cNvSpPr>
          <p:nvPr>
            <p:ph type="title"/>
          </p:nvPr>
        </p:nvSpPr>
        <p:spPr>
          <a:xfrm>
            <a:off x="1189702" y="355293"/>
            <a:ext cx="10515600" cy="480449"/>
          </a:xfrm>
        </p:spPr>
        <p:txBody>
          <a:bodyPr>
            <a:normAutofit/>
          </a:bodyPr>
          <a:lstStyle/>
          <a:p>
            <a:r>
              <a:rPr lang="en-US" sz="2400" b="1" dirty="0">
                <a:solidFill>
                  <a:srgbClr val="C00000"/>
                </a:solidFill>
                <a:highlight>
                  <a:srgbClr val="00FFFF"/>
                </a:highlight>
                <a:latin typeface="Times New Roman" panose="02020603050405020304" pitchFamily="18" charset="0"/>
                <a:cs typeface="Times New Roman" panose="02020603050405020304" pitchFamily="18" charset="0"/>
              </a:rPr>
              <a:t>PROJECT OVERVIEW</a:t>
            </a:r>
            <a:endParaRPr lang="en-IN" sz="2400" b="1" dirty="0">
              <a:solidFill>
                <a:srgbClr val="C00000"/>
              </a:solidFill>
              <a:highlight>
                <a:srgbClr val="00FFFF"/>
              </a:highligh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9FFE98-DF87-80B8-3099-C765C9A59964}"/>
              </a:ext>
            </a:extLst>
          </p:cNvPr>
          <p:cNvSpPr>
            <a:spLocks noGrp="1"/>
          </p:cNvSpPr>
          <p:nvPr>
            <p:ph idx="1"/>
          </p:nvPr>
        </p:nvSpPr>
        <p:spPr>
          <a:xfrm>
            <a:off x="403123" y="993058"/>
            <a:ext cx="10864646" cy="2104103"/>
          </a:xfrm>
        </p:spPr>
        <p:txBody>
          <a:bodyPr>
            <a:normAutofit/>
          </a:bodyPr>
          <a:lstStyle/>
          <a:p>
            <a:r>
              <a:rPr lang="en-US" sz="2400" dirty="0">
                <a:latin typeface="Times New Roman" panose="02020603050405020304" pitchFamily="18" charset="0"/>
                <a:cs typeface="Times New Roman" panose="02020603050405020304" pitchFamily="18" charset="0"/>
              </a:rPr>
              <a:t>This project analyzed a heart disease dataset using </a:t>
            </a:r>
            <a:r>
              <a:rPr lang="en-US" sz="2400" b="1" dirty="0">
                <a:latin typeface="Times New Roman" panose="02020603050405020304" pitchFamily="18" charset="0"/>
                <a:cs typeface="Times New Roman" panose="02020603050405020304" pitchFamily="18" charset="0"/>
              </a:rPr>
              <a:t>Power BI</a:t>
            </a:r>
            <a:r>
              <a:rPr lang="en-US" sz="2400" dirty="0">
                <a:latin typeface="Times New Roman" panose="02020603050405020304" pitchFamily="18" charset="0"/>
                <a:cs typeface="Times New Roman" panose="02020603050405020304" pitchFamily="18" charset="0"/>
              </a:rPr>
              <a:t> to identify key factors associated with heart disease. Patient demographic and clinical data were cleaned, transformed, and modeled using </a:t>
            </a:r>
            <a:r>
              <a:rPr lang="en-US" sz="2400" b="1" dirty="0">
                <a:latin typeface="Times New Roman" panose="02020603050405020304" pitchFamily="18" charset="0"/>
                <a:cs typeface="Times New Roman" panose="02020603050405020304" pitchFamily="18" charset="0"/>
              </a:rPr>
              <a:t>Power Query and DAX</a:t>
            </a:r>
            <a:r>
              <a:rPr lang="en-US" sz="2400" dirty="0">
                <a:latin typeface="Times New Roman" panose="02020603050405020304" pitchFamily="18" charset="0"/>
                <a:cs typeface="Times New Roman" panose="02020603050405020304" pitchFamily="18" charset="0"/>
              </a:rPr>
              <a:t>. Interactive dashboards and visualizations were created to uncover trends, compare risk factors, and support data-driven insights in healthcare analysis.</a:t>
            </a:r>
            <a:endParaRPr lang="en-IN" sz="2400" dirty="0">
              <a:latin typeface="Times New Roman" panose="02020603050405020304" pitchFamily="18" charset="0"/>
              <a:cs typeface="Times New Roman" panose="02020603050405020304" pitchFamily="18" charset="0"/>
            </a:endParaRPr>
          </a:p>
        </p:txBody>
      </p:sp>
      <p:pic>
        <p:nvPicPr>
          <p:cNvPr id="2050" name="Picture 2" descr="Heart beating 3D models download,3D ...">
            <a:extLst>
              <a:ext uri="{FF2B5EF4-FFF2-40B4-BE49-F238E27FC236}">
                <a16:creationId xmlns:a16="http://schemas.microsoft.com/office/drawing/2014/main" id="{F501B3E0-11E5-5287-2540-FF471BB1C9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99" y="187555"/>
            <a:ext cx="805503" cy="80550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22FF7B6-8746-4C37-5CA1-F86B975547F1}"/>
              </a:ext>
            </a:extLst>
          </p:cNvPr>
          <p:cNvSpPr txBox="1"/>
          <p:nvPr/>
        </p:nvSpPr>
        <p:spPr>
          <a:xfrm>
            <a:off x="1189702" y="3820055"/>
            <a:ext cx="2674375" cy="461665"/>
          </a:xfrm>
          <a:prstGeom prst="rect">
            <a:avLst/>
          </a:prstGeom>
          <a:noFill/>
        </p:spPr>
        <p:txBody>
          <a:bodyPr wrap="square" rtlCol="0">
            <a:spAutoFit/>
          </a:bodyPr>
          <a:lstStyle/>
          <a:p>
            <a:r>
              <a:rPr lang="en-US" sz="2400" b="1" dirty="0">
                <a:solidFill>
                  <a:srgbClr val="C00000"/>
                </a:solidFill>
                <a:highlight>
                  <a:srgbClr val="00FFFF"/>
                </a:highlight>
                <a:latin typeface="Times New Roman" panose="02020603050405020304" pitchFamily="18" charset="0"/>
                <a:cs typeface="Times New Roman" panose="02020603050405020304" pitchFamily="18" charset="0"/>
              </a:rPr>
              <a:t>GOALS</a:t>
            </a:r>
            <a:endParaRPr lang="en-IN" sz="2400" b="1" dirty="0">
              <a:solidFill>
                <a:srgbClr val="C00000"/>
              </a:solidFill>
              <a:highlight>
                <a:srgbClr val="00FFFF"/>
              </a:highlight>
              <a:latin typeface="Times New Roman" panose="02020603050405020304" pitchFamily="18" charset="0"/>
              <a:cs typeface="Times New Roman" panose="02020603050405020304" pitchFamily="18" charset="0"/>
            </a:endParaRPr>
          </a:p>
        </p:txBody>
      </p:sp>
      <p:pic>
        <p:nvPicPr>
          <p:cNvPr id="5" name="Picture 2" descr="Heart beating 3D models download,3D ...">
            <a:extLst>
              <a:ext uri="{FF2B5EF4-FFF2-40B4-BE49-F238E27FC236}">
                <a16:creationId xmlns:a16="http://schemas.microsoft.com/office/drawing/2014/main" id="{0CBEF643-1F07-D9BD-C128-650DB7D904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784" y="3648137"/>
            <a:ext cx="805503" cy="8055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9006757-2537-B01D-179F-13CE29C99D21}"/>
              </a:ext>
            </a:extLst>
          </p:cNvPr>
          <p:cNvSpPr txBox="1"/>
          <p:nvPr/>
        </p:nvSpPr>
        <p:spPr>
          <a:xfrm>
            <a:off x="659131" y="2960811"/>
            <a:ext cx="5948146" cy="646331"/>
          </a:xfrm>
          <a:prstGeom prst="rect">
            <a:avLst/>
          </a:prstGeom>
          <a:noFill/>
        </p:spPr>
        <p:txBody>
          <a:bodyPr wrap="square" rtlCol="0">
            <a:spAutoFit/>
          </a:bodyPr>
          <a:lstStyle/>
          <a:p>
            <a:r>
              <a:rPr lang="en-US" b="1" dirty="0">
                <a:highlight>
                  <a:srgbClr val="FFFF00"/>
                </a:highlight>
                <a:latin typeface="Times New Roman" panose="02020603050405020304" pitchFamily="18" charset="0"/>
                <a:cs typeface="Times New Roman" panose="02020603050405020304" pitchFamily="18" charset="0"/>
              </a:rPr>
              <a:t>Tools Used:</a:t>
            </a:r>
            <a:r>
              <a:rPr lang="en-US" b="1" dirty="0">
                <a:solidFill>
                  <a:srgbClr val="C00000"/>
                </a:solidFill>
                <a:latin typeface="Times New Roman" panose="02020603050405020304" pitchFamily="18" charset="0"/>
                <a:cs typeface="Times New Roman" panose="02020603050405020304" pitchFamily="18" charset="0"/>
              </a:rPr>
              <a:t>  Power BI, DAX, Power Query</a:t>
            </a:r>
            <a:br>
              <a:rPr lang="en-US" dirty="0"/>
            </a:br>
            <a:r>
              <a:rPr lang="en-US" b="1" dirty="0">
                <a:highlight>
                  <a:srgbClr val="FFFF00"/>
                </a:highlight>
                <a:latin typeface="Times New Roman" panose="02020603050405020304" pitchFamily="18" charset="0"/>
                <a:cs typeface="Times New Roman" panose="02020603050405020304" pitchFamily="18" charset="0"/>
              </a:rPr>
              <a:t>Dataset Source:</a:t>
            </a:r>
            <a:r>
              <a:rPr lang="en-US" b="1" dirty="0">
                <a:solidFill>
                  <a:srgbClr val="C00000"/>
                </a:solidFill>
                <a:latin typeface="Times New Roman" panose="02020603050405020304" pitchFamily="18" charset="0"/>
                <a:cs typeface="Times New Roman" panose="02020603050405020304" pitchFamily="18" charset="0"/>
              </a:rPr>
              <a:t> Kaggle – Heart Disease Dataset</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EF46916-BA49-DCE5-4692-AAAF1CD76B8D}"/>
              </a:ext>
            </a:extLst>
          </p:cNvPr>
          <p:cNvSpPr txBox="1"/>
          <p:nvPr/>
        </p:nvSpPr>
        <p:spPr>
          <a:xfrm>
            <a:off x="659131" y="4591665"/>
            <a:ext cx="10608638" cy="1569660"/>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To analyze heart disease data and identify key demographic and clinical risk factors.</a:t>
            </a: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To clean, transform, and model healthcare data using Power Query and DAX.</a:t>
            </a: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To create interactive Power BI dashboards for effective visualization and analysis.</a:t>
            </a: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To support data-driven insights for understanding heart disease patterns.</a:t>
            </a:r>
          </a:p>
        </p:txBody>
      </p:sp>
    </p:spTree>
    <p:extLst>
      <p:ext uri="{BB962C8B-B14F-4D97-AF65-F5344CB8AC3E}">
        <p14:creationId xmlns:p14="http://schemas.microsoft.com/office/powerpoint/2010/main" val="339462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50B2F-DD2F-441A-1F85-8D4D87F6035A}"/>
              </a:ext>
            </a:extLst>
          </p:cNvPr>
          <p:cNvSpPr>
            <a:spLocks noGrp="1"/>
          </p:cNvSpPr>
          <p:nvPr>
            <p:ph type="title"/>
          </p:nvPr>
        </p:nvSpPr>
        <p:spPr>
          <a:xfrm>
            <a:off x="1111045" y="365123"/>
            <a:ext cx="8534400" cy="460785"/>
          </a:xfrm>
        </p:spPr>
        <p:txBody>
          <a:bodyPr>
            <a:normAutofit/>
          </a:bodyPr>
          <a:lstStyle/>
          <a:p>
            <a:r>
              <a:rPr lang="en-US" sz="2400" b="1" dirty="0">
                <a:solidFill>
                  <a:srgbClr val="C00000"/>
                </a:solidFill>
                <a:highlight>
                  <a:srgbClr val="00FFFF"/>
                </a:highlight>
                <a:latin typeface="Times New Roman" panose="02020603050405020304" pitchFamily="18" charset="0"/>
                <a:cs typeface="Times New Roman" panose="02020603050405020304" pitchFamily="18" charset="0"/>
              </a:rPr>
              <a:t>DATA DESCRIPTION &amp; PREPROCESSING</a:t>
            </a:r>
            <a:endParaRPr lang="en-IN" sz="2400" b="1" dirty="0">
              <a:solidFill>
                <a:srgbClr val="C00000"/>
              </a:solidFill>
              <a:highlight>
                <a:srgbClr val="00FFFF"/>
              </a:highligh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FA5E8BB-9606-C178-9EA9-262D47499CAE}"/>
              </a:ext>
            </a:extLst>
          </p:cNvPr>
          <p:cNvSpPr>
            <a:spLocks noGrp="1"/>
          </p:cNvSpPr>
          <p:nvPr>
            <p:ph idx="1"/>
          </p:nvPr>
        </p:nvSpPr>
        <p:spPr>
          <a:xfrm>
            <a:off x="838199" y="1170626"/>
            <a:ext cx="10921181" cy="5322251"/>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heart disease dataset sourced from Kaggle contains patient demographic and clinical attributes such as age, gender, chest pain type, blood pressure, cholesterol levels, heart rate, and exercise-induced indicators. The dataset is used to analyze and predict the presence of heart disease based on these medical factors.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highlight>
                  <a:srgbClr val="FFFF00"/>
                </a:highlight>
                <a:latin typeface="Times New Roman" panose="02020603050405020304" pitchFamily="18" charset="0"/>
                <a:cs typeface="Times New Roman" panose="02020603050405020304" pitchFamily="18" charset="0"/>
              </a:rPr>
              <a:t>Dataset Source:</a:t>
            </a:r>
            <a:r>
              <a:rPr lang="en-US" sz="2400" b="1" dirty="0">
                <a:solidFill>
                  <a:srgbClr val="C00000"/>
                </a:solidFill>
                <a:latin typeface="Times New Roman" panose="02020603050405020304" pitchFamily="18" charset="0"/>
                <a:cs typeface="Times New Roman" panose="02020603050405020304" pitchFamily="18" charset="0"/>
              </a:rPr>
              <a:t> Kaggle – Heart Disease Dataset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Data preprocessing was performed using Power Query to ensure data quality and reliability. This included removing duplicate records, handling missing values, correcting data types, validating categorical variables, and transforming coded attributes into meaningful labels. These steps prepared the dataset for accurate analysis and visualization in Power BI.</a:t>
            </a:r>
            <a:endParaRPr lang="en-IN" sz="2400" dirty="0">
              <a:latin typeface="Times New Roman" panose="02020603050405020304" pitchFamily="18" charset="0"/>
              <a:cs typeface="Times New Roman" panose="02020603050405020304" pitchFamily="18" charset="0"/>
            </a:endParaRPr>
          </a:p>
        </p:txBody>
      </p:sp>
      <p:pic>
        <p:nvPicPr>
          <p:cNvPr id="4" name="Picture 2" descr="Heart beating 3D models download,3D ...">
            <a:extLst>
              <a:ext uri="{FF2B5EF4-FFF2-40B4-BE49-F238E27FC236}">
                <a16:creationId xmlns:a16="http://schemas.microsoft.com/office/drawing/2014/main" id="{FD331DFE-9D0E-5804-F7C3-90D19D7573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448" y="192765"/>
            <a:ext cx="805503" cy="805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523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C38A0-369F-39BD-4D8D-6C59BA857D48}"/>
              </a:ext>
            </a:extLst>
          </p:cNvPr>
          <p:cNvSpPr>
            <a:spLocks noGrp="1"/>
          </p:cNvSpPr>
          <p:nvPr>
            <p:ph type="title"/>
          </p:nvPr>
        </p:nvSpPr>
        <p:spPr>
          <a:xfrm>
            <a:off x="1181100" y="335627"/>
            <a:ext cx="9829800" cy="519778"/>
          </a:xfrm>
        </p:spPr>
        <p:txBody>
          <a:bodyPr>
            <a:normAutofit/>
          </a:bodyPr>
          <a:lstStyle/>
          <a:p>
            <a:r>
              <a:rPr lang="en-US" sz="2400" b="1" dirty="0">
                <a:solidFill>
                  <a:srgbClr val="C00000"/>
                </a:solidFill>
                <a:highlight>
                  <a:srgbClr val="00FFFF"/>
                </a:highlight>
                <a:latin typeface="Times New Roman" panose="02020603050405020304" pitchFamily="18" charset="0"/>
                <a:cs typeface="Times New Roman" panose="02020603050405020304" pitchFamily="18" charset="0"/>
              </a:rPr>
              <a:t>CLEANING &amp; HANDLING MISSING VALUES</a:t>
            </a:r>
            <a:endParaRPr lang="en-IN" sz="2400" b="1" dirty="0">
              <a:solidFill>
                <a:srgbClr val="C00000"/>
              </a:solidFill>
              <a:highlight>
                <a:srgbClr val="00FFFF"/>
              </a:highligh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4C8EFE8-E38F-467D-F187-5E2F3905D072}"/>
              </a:ext>
            </a:extLst>
          </p:cNvPr>
          <p:cNvSpPr>
            <a:spLocks noGrp="1"/>
          </p:cNvSpPr>
          <p:nvPr>
            <p:ph idx="1"/>
          </p:nvPr>
        </p:nvSpPr>
        <p:spPr>
          <a:xfrm>
            <a:off x="540775" y="1150375"/>
            <a:ext cx="11316928" cy="1042220"/>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Missing values were identified and treated using appropriate replacement techniques based on data type and domain relevance. Invalid records were corrected or removed to ensure data accuracy and reliability for Power BI analysis.</a:t>
            </a:r>
            <a:endParaRPr lang="en-IN" sz="2400" dirty="0">
              <a:latin typeface="Times New Roman" panose="02020603050405020304" pitchFamily="18" charset="0"/>
              <a:cs typeface="Times New Roman" panose="02020603050405020304" pitchFamily="18" charset="0"/>
            </a:endParaRPr>
          </a:p>
        </p:txBody>
      </p:sp>
      <p:pic>
        <p:nvPicPr>
          <p:cNvPr id="4" name="Picture 2" descr="Heart beating 3D models download,3D ...">
            <a:extLst>
              <a:ext uri="{FF2B5EF4-FFF2-40B4-BE49-F238E27FC236}">
                <a16:creationId xmlns:a16="http://schemas.microsoft.com/office/drawing/2014/main" id="{D1151AD4-0D61-3025-0E27-C6B107C55E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448" y="192765"/>
            <a:ext cx="805503" cy="80550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78757F8-DAC9-3B41-33EA-981A03EEBDF6}"/>
              </a:ext>
            </a:extLst>
          </p:cNvPr>
          <p:cNvPicPr>
            <a:picLocks noChangeAspect="1"/>
          </p:cNvPicPr>
          <p:nvPr/>
        </p:nvPicPr>
        <p:blipFill>
          <a:blip r:embed="rId3"/>
          <a:stretch>
            <a:fillRect/>
          </a:stretch>
        </p:blipFill>
        <p:spPr>
          <a:xfrm>
            <a:off x="717755" y="2344702"/>
            <a:ext cx="10992464" cy="4177671"/>
          </a:xfrm>
          <a:prstGeom prst="rect">
            <a:avLst/>
          </a:prstGeom>
        </p:spPr>
      </p:pic>
    </p:spTree>
    <p:extLst>
      <p:ext uri="{BB962C8B-B14F-4D97-AF65-F5344CB8AC3E}">
        <p14:creationId xmlns:p14="http://schemas.microsoft.com/office/powerpoint/2010/main" val="265652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CF3A3-D3B4-C9CA-BE65-9B237F38B170}"/>
              </a:ext>
            </a:extLst>
          </p:cNvPr>
          <p:cNvSpPr>
            <a:spLocks noGrp="1"/>
          </p:cNvSpPr>
          <p:nvPr>
            <p:ph type="title"/>
          </p:nvPr>
        </p:nvSpPr>
        <p:spPr>
          <a:xfrm>
            <a:off x="1327354" y="365126"/>
            <a:ext cx="10026445" cy="509946"/>
          </a:xfrm>
        </p:spPr>
        <p:txBody>
          <a:bodyPr>
            <a:normAutofit/>
          </a:bodyPr>
          <a:lstStyle/>
          <a:p>
            <a:r>
              <a:rPr lang="en-US" sz="2400" b="1" dirty="0">
                <a:solidFill>
                  <a:srgbClr val="C00000"/>
                </a:solidFill>
                <a:highlight>
                  <a:srgbClr val="00FFFF"/>
                </a:highlight>
                <a:latin typeface="Times New Roman" panose="02020603050405020304" pitchFamily="18" charset="0"/>
                <a:cs typeface="Times New Roman" panose="02020603050405020304" pitchFamily="18" charset="0"/>
              </a:rPr>
              <a:t>KEY METRICS CALCULATIONS</a:t>
            </a:r>
            <a:endParaRPr lang="en-IN" sz="2400" b="1" dirty="0">
              <a:solidFill>
                <a:srgbClr val="C00000"/>
              </a:solidFill>
              <a:highlight>
                <a:srgbClr val="00FFFF"/>
              </a:highligh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A735C5-DD38-7472-1049-B39E45727CF9}"/>
              </a:ext>
            </a:extLst>
          </p:cNvPr>
          <p:cNvSpPr>
            <a:spLocks noGrp="1"/>
          </p:cNvSpPr>
          <p:nvPr>
            <p:ph idx="1"/>
          </p:nvPr>
        </p:nvSpPr>
        <p:spPr>
          <a:xfrm>
            <a:off x="1327354" y="1022850"/>
            <a:ext cx="3932903" cy="5141681"/>
          </a:xfrm>
        </p:spPr>
        <p:txBody>
          <a:bodyPr>
            <a:normAutofit/>
          </a:bodyPr>
          <a:lstStyle/>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Age by Group</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Average Cholesterol</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Avg age of Disease</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Chest Pain Type</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Disease Percentage</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Disease Status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Heart Disease Patient</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High Risk Patient</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Max Heart Rate</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No Heart Disease Patient</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Selected Patient</a:t>
            </a:r>
          </a:p>
          <a:p>
            <a:pPr marL="457200" indent="-457200">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IN" sz="2400" dirty="0">
              <a:latin typeface="Times New Roman" panose="02020603050405020304" pitchFamily="18" charset="0"/>
              <a:cs typeface="Times New Roman" panose="02020603050405020304" pitchFamily="18" charset="0"/>
            </a:endParaRPr>
          </a:p>
        </p:txBody>
      </p:sp>
      <p:pic>
        <p:nvPicPr>
          <p:cNvPr id="4" name="Picture 2" descr="Heart beating 3D models download,3D ...">
            <a:extLst>
              <a:ext uri="{FF2B5EF4-FFF2-40B4-BE49-F238E27FC236}">
                <a16:creationId xmlns:a16="http://schemas.microsoft.com/office/drawing/2014/main" id="{A99DFC4E-D54B-D8CE-776D-6611B57A18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974" y="217347"/>
            <a:ext cx="805503" cy="805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833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567BA-B6C7-8BCF-F6E6-083EE6541612}"/>
              </a:ext>
            </a:extLst>
          </p:cNvPr>
          <p:cNvSpPr>
            <a:spLocks noGrp="1"/>
          </p:cNvSpPr>
          <p:nvPr>
            <p:ph type="title"/>
          </p:nvPr>
        </p:nvSpPr>
        <p:spPr>
          <a:xfrm>
            <a:off x="1156519" y="365125"/>
            <a:ext cx="9878961" cy="519778"/>
          </a:xfrm>
        </p:spPr>
        <p:txBody>
          <a:bodyPr>
            <a:normAutofit/>
          </a:bodyPr>
          <a:lstStyle/>
          <a:p>
            <a:r>
              <a:rPr lang="en-US" sz="2400" b="1" dirty="0">
                <a:solidFill>
                  <a:srgbClr val="C00000"/>
                </a:solidFill>
                <a:highlight>
                  <a:srgbClr val="00FFFF"/>
                </a:highlight>
                <a:latin typeface="Times New Roman" panose="02020603050405020304" pitchFamily="18" charset="0"/>
                <a:cs typeface="Times New Roman" panose="02020603050405020304" pitchFamily="18" charset="0"/>
              </a:rPr>
              <a:t>DAX CALCULATIONS</a:t>
            </a:r>
            <a:endParaRPr lang="en-IN" sz="2400" b="1" dirty="0">
              <a:solidFill>
                <a:srgbClr val="C00000"/>
              </a:solidFill>
              <a:highlight>
                <a:srgbClr val="00FFFF"/>
              </a:highlight>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858EA3A8-F8A1-1359-381A-72978DC528FC}"/>
              </a:ext>
            </a:extLst>
          </p:cNvPr>
          <p:cNvPicPr>
            <a:picLocks noGrp="1" noChangeAspect="1"/>
          </p:cNvPicPr>
          <p:nvPr>
            <p:ph idx="1"/>
          </p:nvPr>
        </p:nvPicPr>
        <p:blipFill>
          <a:blip r:embed="rId2"/>
          <a:stretch>
            <a:fillRect/>
          </a:stretch>
        </p:blipFill>
        <p:spPr>
          <a:xfrm>
            <a:off x="707955" y="1337776"/>
            <a:ext cx="3382263" cy="1847875"/>
          </a:xfrm>
          <a:prstGeom prst="rect">
            <a:avLst/>
          </a:prstGeom>
        </p:spPr>
      </p:pic>
      <p:pic>
        <p:nvPicPr>
          <p:cNvPr id="4" name="Picture 2" descr="Heart beating 3D models download,3D ...">
            <a:extLst>
              <a:ext uri="{FF2B5EF4-FFF2-40B4-BE49-F238E27FC236}">
                <a16:creationId xmlns:a16="http://schemas.microsoft.com/office/drawing/2014/main" id="{B37D8780-0C85-EFD5-202C-7300FF7374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448" y="222263"/>
            <a:ext cx="805503" cy="80550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81CE98C-EDEF-3FD8-3C39-2B031F9FD93A}"/>
              </a:ext>
            </a:extLst>
          </p:cNvPr>
          <p:cNvPicPr>
            <a:picLocks noChangeAspect="1"/>
          </p:cNvPicPr>
          <p:nvPr/>
        </p:nvPicPr>
        <p:blipFill>
          <a:blip r:embed="rId4"/>
          <a:stretch>
            <a:fillRect/>
          </a:stretch>
        </p:blipFill>
        <p:spPr>
          <a:xfrm>
            <a:off x="4338742" y="1337776"/>
            <a:ext cx="3382263" cy="1830669"/>
          </a:xfrm>
          <a:prstGeom prst="rect">
            <a:avLst/>
          </a:prstGeom>
        </p:spPr>
      </p:pic>
      <p:pic>
        <p:nvPicPr>
          <p:cNvPr id="12" name="Picture 11">
            <a:extLst>
              <a:ext uri="{FF2B5EF4-FFF2-40B4-BE49-F238E27FC236}">
                <a16:creationId xmlns:a16="http://schemas.microsoft.com/office/drawing/2014/main" id="{03832FCA-0F2E-8307-1A8E-ACAA637E8FCC}"/>
              </a:ext>
            </a:extLst>
          </p:cNvPr>
          <p:cNvPicPr>
            <a:picLocks noChangeAspect="1"/>
          </p:cNvPicPr>
          <p:nvPr/>
        </p:nvPicPr>
        <p:blipFill>
          <a:blip r:embed="rId5"/>
          <a:stretch>
            <a:fillRect/>
          </a:stretch>
        </p:blipFill>
        <p:spPr>
          <a:xfrm>
            <a:off x="7969529" y="1337775"/>
            <a:ext cx="3514514" cy="1830669"/>
          </a:xfrm>
          <a:prstGeom prst="rect">
            <a:avLst/>
          </a:prstGeom>
        </p:spPr>
      </p:pic>
      <p:pic>
        <p:nvPicPr>
          <p:cNvPr id="14" name="Picture 13">
            <a:extLst>
              <a:ext uri="{FF2B5EF4-FFF2-40B4-BE49-F238E27FC236}">
                <a16:creationId xmlns:a16="http://schemas.microsoft.com/office/drawing/2014/main" id="{4900462B-C939-A160-88D5-BCD719DD54ED}"/>
              </a:ext>
            </a:extLst>
          </p:cNvPr>
          <p:cNvPicPr>
            <a:picLocks noChangeAspect="1"/>
          </p:cNvPicPr>
          <p:nvPr/>
        </p:nvPicPr>
        <p:blipFill>
          <a:blip r:embed="rId6"/>
          <a:stretch>
            <a:fillRect/>
          </a:stretch>
        </p:blipFill>
        <p:spPr>
          <a:xfrm>
            <a:off x="707955" y="4463845"/>
            <a:ext cx="3382263" cy="1730478"/>
          </a:xfrm>
          <a:prstGeom prst="rect">
            <a:avLst/>
          </a:prstGeom>
        </p:spPr>
      </p:pic>
      <p:pic>
        <p:nvPicPr>
          <p:cNvPr id="16" name="Picture 15">
            <a:extLst>
              <a:ext uri="{FF2B5EF4-FFF2-40B4-BE49-F238E27FC236}">
                <a16:creationId xmlns:a16="http://schemas.microsoft.com/office/drawing/2014/main" id="{390417C4-4134-8CB1-5CA3-89A1542DD886}"/>
              </a:ext>
            </a:extLst>
          </p:cNvPr>
          <p:cNvPicPr>
            <a:picLocks noChangeAspect="1"/>
          </p:cNvPicPr>
          <p:nvPr/>
        </p:nvPicPr>
        <p:blipFill>
          <a:blip r:embed="rId7"/>
          <a:stretch>
            <a:fillRect/>
          </a:stretch>
        </p:blipFill>
        <p:spPr>
          <a:xfrm>
            <a:off x="4338742" y="4463845"/>
            <a:ext cx="3382263" cy="1730477"/>
          </a:xfrm>
          <a:prstGeom prst="rect">
            <a:avLst/>
          </a:prstGeom>
        </p:spPr>
      </p:pic>
      <p:pic>
        <p:nvPicPr>
          <p:cNvPr id="18" name="Picture 17">
            <a:extLst>
              <a:ext uri="{FF2B5EF4-FFF2-40B4-BE49-F238E27FC236}">
                <a16:creationId xmlns:a16="http://schemas.microsoft.com/office/drawing/2014/main" id="{3BA5090D-0284-C6A9-7750-F9F0AD759FBE}"/>
              </a:ext>
            </a:extLst>
          </p:cNvPr>
          <p:cNvPicPr>
            <a:picLocks noChangeAspect="1"/>
          </p:cNvPicPr>
          <p:nvPr/>
        </p:nvPicPr>
        <p:blipFill>
          <a:blip r:embed="rId8"/>
          <a:stretch>
            <a:fillRect/>
          </a:stretch>
        </p:blipFill>
        <p:spPr>
          <a:xfrm>
            <a:off x="7969529" y="4463845"/>
            <a:ext cx="3514514" cy="1730477"/>
          </a:xfrm>
          <a:prstGeom prst="rect">
            <a:avLst/>
          </a:prstGeom>
        </p:spPr>
      </p:pic>
    </p:spTree>
    <p:extLst>
      <p:ext uri="{BB962C8B-B14F-4D97-AF65-F5344CB8AC3E}">
        <p14:creationId xmlns:p14="http://schemas.microsoft.com/office/powerpoint/2010/main" val="1874262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629A1-238E-9E4A-7CEC-A15DF26D706B}"/>
              </a:ext>
            </a:extLst>
          </p:cNvPr>
          <p:cNvSpPr>
            <a:spLocks noGrp="1"/>
          </p:cNvSpPr>
          <p:nvPr>
            <p:ph type="title"/>
          </p:nvPr>
        </p:nvSpPr>
        <p:spPr>
          <a:xfrm>
            <a:off x="1042219" y="365125"/>
            <a:ext cx="9751142" cy="450952"/>
          </a:xfrm>
        </p:spPr>
        <p:txBody>
          <a:bodyPr>
            <a:normAutofit/>
          </a:bodyPr>
          <a:lstStyle/>
          <a:p>
            <a:r>
              <a:rPr lang="en-US" sz="2400" b="1" dirty="0">
                <a:solidFill>
                  <a:srgbClr val="C00000"/>
                </a:solidFill>
                <a:highlight>
                  <a:srgbClr val="00FFFF"/>
                </a:highlight>
                <a:latin typeface="Times New Roman" panose="02020603050405020304" pitchFamily="18" charset="0"/>
                <a:cs typeface="Times New Roman" panose="02020603050405020304" pitchFamily="18" charset="0"/>
              </a:rPr>
              <a:t>CHARTS &amp; VISUALIZATION</a:t>
            </a:r>
            <a:endParaRPr lang="en-IN" sz="2400" b="1" dirty="0">
              <a:solidFill>
                <a:srgbClr val="C00000"/>
              </a:solidFill>
              <a:highlight>
                <a:srgbClr val="00FFFF"/>
              </a:highlight>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BB995A96-C5DF-B51D-2DF6-0D6D1CBE4A59}"/>
              </a:ext>
            </a:extLst>
          </p:cNvPr>
          <p:cNvPicPr>
            <a:picLocks noGrp="1" noChangeAspect="1"/>
          </p:cNvPicPr>
          <p:nvPr>
            <p:ph idx="1"/>
          </p:nvPr>
        </p:nvPicPr>
        <p:blipFill>
          <a:blip r:embed="rId2"/>
          <a:stretch>
            <a:fillRect/>
          </a:stretch>
        </p:blipFill>
        <p:spPr>
          <a:xfrm>
            <a:off x="1142628" y="1219008"/>
            <a:ext cx="4019307" cy="2209992"/>
          </a:xfrm>
          <a:prstGeom prst="rect">
            <a:avLst/>
          </a:prstGeom>
        </p:spPr>
      </p:pic>
      <p:pic>
        <p:nvPicPr>
          <p:cNvPr id="4" name="Picture 2" descr="Heart beating 3D models download,3D ...">
            <a:extLst>
              <a:ext uri="{FF2B5EF4-FFF2-40B4-BE49-F238E27FC236}">
                <a16:creationId xmlns:a16="http://schemas.microsoft.com/office/drawing/2014/main" id="{D413BBF5-55A7-36FE-09B8-A918DB70D4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125" y="187850"/>
            <a:ext cx="805503" cy="80550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2D15CED-8165-3FA5-A810-DB565B584171}"/>
              </a:ext>
            </a:extLst>
          </p:cNvPr>
          <p:cNvPicPr>
            <a:picLocks noChangeAspect="1"/>
          </p:cNvPicPr>
          <p:nvPr/>
        </p:nvPicPr>
        <p:blipFill>
          <a:blip r:embed="rId4"/>
          <a:stretch>
            <a:fillRect/>
          </a:stretch>
        </p:blipFill>
        <p:spPr>
          <a:xfrm>
            <a:off x="7139845" y="1219008"/>
            <a:ext cx="4019307" cy="2209992"/>
          </a:xfrm>
          <a:prstGeom prst="rect">
            <a:avLst/>
          </a:prstGeom>
        </p:spPr>
      </p:pic>
      <p:pic>
        <p:nvPicPr>
          <p:cNvPr id="10" name="Picture 9">
            <a:extLst>
              <a:ext uri="{FF2B5EF4-FFF2-40B4-BE49-F238E27FC236}">
                <a16:creationId xmlns:a16="http://schemas.microsoft.com/office/drawing/2014/main" id="{63D8854C-0DD5-4E4F-944F-230F550D06BE}"/>
              </a:ext>
            </a:extLst>
          </p:cNvPr>
          <p:cNvPicPr>
            <a:picLocks noChangeAspect="1"/>
          </p:cNvPicPr>
          <p:nvPr/>
        </p:nvPicPr>
        <p:blipFill>
          <a:blip r:embed="rId5"/>
          <a:stretch>
            <a:fillRect/>
          </a:stretch>
        </p:blipFill>
        <p:spPr>
          <a:xfrm>
            <a:off x="1142628" y="3831931"/>
            <a:ext cx="4019307" cy="2382056"/>
          </a:xfrm>
          <a:prstGeom prst="rect">
            <a:avLst/>
          </a:prstGeom>
        </p:spPr>
      </p:pic>
      <p:pic>
        <p:nvPicPr>
          <p:cNvPr id="12" name="Picture 11">
            <a:extLst>
              <a:ext uri="{FF2B5EF4-FFF2-40B4-BE49-F238E27FC236}">
                <a16:creationId xmlns:a16="http://schemas.microsoft.com/office/drawing/2014/main" id="{C6CB7D91-88D9-6C29-FE93-E8EDD5AF253F}"/>
              </a:ext>
            </a:extLst>
          </p:cNvPr>
          <p:cNvPicPr>
            <a:picLocks noChangeAspect="1"/>
          </p:cNvPicPr>
          <p:nvPr/>
        </p:nvPicPr>
        <p:blipFill>
          <a:blip r:embed="rId6"/>
          <a:stretch>
            <a:fillRect/>
          </a:stretch>
        </p:blipFill>
        <p:spPr>
          <a:xfrm>
            <a:off x="7139845" y="3831931"/>
            <a:ext cx="4019307" cy="2382056"/>
          </a:xfrm>
          <a:prstGeom prst="rect">
            <a:avLst/>
          </a:prstGeom>
        </p:spPr>
      </p:pic>
    </p:spTree>
    <p:extLst>
      <p:ext uri="{BB962C8B-B14F-4D97-AF65-F5344CB8AC3E}">
        <p14:creationId xmlns:p14="http://schemas.microsoft.com/office/powerpoint/2010/main" val="3503174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FCE22-7525-8EC9-9F43-5DCE0869425E}"/>
              </a:ext>
            </a:extLst>
          </p:cNvPr>
          <p:cNvSpPr>
            <a:spLocks noGrp="1"/>
          </p:cNvSpPr>
          <p:nvPr>
            <p:ph type="title"/>
          </p:nvPr>
        </p:nvSpPr>
        <p:spPr>
          <a:xfrm>
            <a:off x="1132796" y="430979"/>
            <a:ext cx="9043219" cy="500114"/>
          </a:xfrm>
        </p:spPr>
        <p:txBody>
          <a:bodyPr>
            <a:normAutofit/>
          </a:bodyPr>
          <a:lstStyle/>
          <a:p>
            <a:r>
              <a:rPr lang="en-US" sz="2400" b="1" dirty="0">
                <a:solidFill>
                  <a:srgbClr val="C00000"/>
                </a:solidFill>
                <a:highlight>
                  <a:srgbClr val="00FFFF"/>
                </a:highlight>
                <a:latin typeface="Times New Roman" panose="02020603050405020304" pitchFamily="18" charset="0"/>
                <a:cs typeface="Times New Roman" panose="02020603050405020304" pitchFamily="18" charset="0"/>
              </a:rPr>
              <a:t>DASHBOARD OVERVIEW</a:t>
            </a:r>
            <a:endParaRPr lang="en-IN" sz="2400" b="1" dirty="0">
              <a:solidFill>
                <a:srgbClr val="C00000"/>
              </a:solidFill>
              <a:highlight>
                <a:srgbClr val="00FFFF"/>
              </a:highlight>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C0872260-AC55-7350-AF0E-296BF5C705A3}"/>
              </a:ext>
            </a:extLst>
          </p:cNvPr>
          <p:cNvPicPr>
            <a:picLocks noGrp="1" noChangeAspect="1"/>
          </p:cNvPicPr>
          <p:nvPr>
            <p:ph idx="1"/>
          </p:nvPr>
        </p:nvPicPr>
        <p:blipFill>
          <a:blip r:embed="rId2"/>
          <a:stretch>
            <a:fillRect/>
          </a:stretch>
        </p:blipFill>
        <p:spPr>
          <a:xfrm>
            <a:off x="501444" y="1100219"/>
            <a:ext cx="11218607" cy="5464013"/>
          </a:xfrm>
          <a:prstGeom prst="rect">
            <a:avLst/>
          </a:prstGeom>
        </p:spPr>
      </p:pic>
      <p:pic>
        <p:nvPicPr>
          <p:cNvPr id="4" name="Picture 2" descr="Heart beating 3D models download,3D ...">
            <a:extLst>
              <a:ext uri="{FF2B5EF4-FFF2-40B4-BE49-F238E27FC236}">
                <a16:creationId xmlns:a16="http://schemas.microsoft.com/office/drawing/2014/main" id="{73263F98-9A3A-50F6-8AD3-94A2A4910F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293" y="278285"/>
            <a:ext cx="805503" cy="805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751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227A2-CB43-724E-6EFC-AC3024284A45}"/>
              </a:ext>
            </a:extLst>
          </p:cNvPr>
          <p:cNvSpPr>
            <a:spLocks noGrp="1"/>
          </p:cNvSpPr>
          <p:nvPr>
            <p:ph type="title"/>
          </p:nvPr>
        </p:nvSpPr>
        <p:spPr>
          <a:xfrm>
            <a:off x="1054138" y="435895"/>
            <a:ext cx="9908458" cy="490281"/>
          </a:xfrm>
        </p:spPr>
        <p:txBody>
          <a:bodyPr>
            <a:normAutofit/>
          </a:bodyPr>
          <a:lstStyle/>
          <a:p>
            <a:r>
              <a:rPr lang="en-US" sz="2400" b="1" dirty="0">
                <a:solidFill>
                  <a:srgbClr val="C00000"/>
                </a:solidFill>
                <a:highlight>
                  <a:srgbClr val="00FFFF"/>
                </a:highlight>
                <a:latin typeface="Times New Roman" panose="02020603050405020304" pitchFamily="18" charset="0"/>
                <a:cs typeface="Times New Roman" panose="02020603050405020304" pitchFamily="18" charset="0"/>
              </a:rPr>
              <a:t>RESEARCHED INSIGHTS</a:t>
            </a:r>
            <a:endParaRPr lang="en-IN" sz="2400" b="1" dirty="0">
              <a:solidFill>
                <a:srgbClr val="C00000"/>
              </a:solidFill>
              <a:highlight>
                <a:srgbClr val="00FFFF"/>
              </a:highligh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BDD0D1-4CA8-4962-2401-91B2FA9FEC44}"/>
              </a:ext>
            </a:extLst>
          </p:cNvPr>
          <p:cNvSpPr>
            <a:spLocks noGrp="1"/>
          </p:cNvSpPr>
          <p:nvPr>
            <p:ph idx="1"/>
          </p:nvPr>
        </p:nvSpPr>
        <p:spPr>
          <a:xfrm>
            <a:off x="317461" y="1083787"/>
            <a:ext cx="11304268" cy="5661142"/>
          </a:xfrm>
        </p:spPr>
        <p:txBody>
          <a:bodyPr>
            <a:normAutofit fontScale="70000" lnSpcReduction="20000"/>
          </a:bodyPr>
          <a:lstStyle/>
          <a:p>
            <a:pPr algn="just"/>
            <a:r>
              <a:rPr lang="en-US" sz="3200" dirty="0">
                <a:latin typeface="Times New Roman" panose="02020603050405020304" pitchFamily="18" charset="0"/>
                <a:cs typeface="Times New Roman" panose="02020603050405020304" pitchFamily="18" charset="0"/>
              </a:rPr>
              <a:t>Total Patients :302 whereas number of heart disease patients:164(~54.3%)</a:t>
            </a:r>
          </a:p>
          <a:p>
            <a:pPr algn="just"/>
            <a:r>
              <a:rPr lang="en-US" sz="3200" dirty="0">
                <a:latin typeface="Times New Roman" panose="02020603050405020304" pitchFamily="18" charset="0"/>
                <a:cs typeface="Times New Roman" panose="02020603050405020304" pitchFamily="18" charset="0"/>
              </a:rPr>
              <a:t>No heart disease patient found(~45.7%) which indicates half of the patients are affected indicating a high prevalence of heart disease in the dataset.</a:t>
            </a:r>
          </a:p>
          <a:p>
            <a:pPr algn="just"/>
            <a:r>
              <a:rPr lang="en-US" sz="3200" dirty="0">
                <a:latin typeface="Times New Roman" panose="02020603050405020304" pitchFamily="18" charset="0"/>
                <a:cs typeface="Times New Roman" panose="02020603050405020304" pitchFamily="18" charset="0"/>
              </a:rPr>
              <a:t>Males show significantly higher heart disease cases compared to females whereas females show lower proportion of heart disease which indicates Gender is a strong risk factor ,with males being more vulnerable.</a:t>
            </a:r>
          </a:p>
          <a:p>
            <a:pPr algn="just"/>
            <a:r>
              <a:rPr lang="en-US" sz="3200" dirty="0">
                <a:latin typeface="Times New Roman" panose="02020603050405020304" pitchFamily="18" charset="0"/>
                <a:cs typeface="Times New Roman" panose="02020603050405020304" pitchFamily="18" charset="0"/>
              </a:rPr>
              <a:t>Nonanginal pain has the highest number of heart disease patients &amp; Atypical angina &amp; typical angina show moderate cases &amp; Asymptomatic patients still show presence of heart disease that means heart disease can exist even without classic chest pain making diagnosis tricky.</a:t>
            </a:r>
          </a:p>
          <a:p>
            <a:pPr algn="just"/>
            <a:r>
              <a:rPr lang="en-US" sz="3200" dirty="0">
                <a:latin typeface="Times New Roman" panose="02020603050405020304" pitchFamily="18" charset="0"/>
                <a:cs typeface="Times New Roman" panose="02020603050405020304" pitchFamily="18" charset="0"/>
              </a:rPr>
              <a:t>Age group 56-70 has the highest heart disease cases &amp; 40-55 age group is the second most affected which defines Risk increases with age especially after mid-40s.</a:t>
            </a:r>
          </a:p>
          <a:p>
            <a:pPr algn="just"/>
            <a:r>
              <a:rPr lang="en-US" sz="3200" dirty="0">
                <a:latin typeface="Times New Roman" panose="02020603050405020304" pitchFamily="18" charset="0"/>
                <a:cs typeface="Times New Roman" panose="02020603050405020304" pitchFamily="18" charset="0"/>
              </a:rPr>
              <a:t>Average cholesterol fluctuates with age &amp; Peaks are visible around middle &amp; older age groups indicates Cholesterol instability in later ages may contribute to higher heart disease risk.</a:t>
            </a:r>
          </a:p>
          <a:p>
            <a:pPr algn="just"/>
            <a:r>
              <a:rPr lang="en-US" sz="3200" dirty="0">
                <a:latin typeface="Times New Roman" panose="02020603050405020304" pitchFamily="18" charset="0"/>
                <a:cs typeface="Times New Roman" panose="02020603050405020304" pitchFamily="18" charset="0"/>
              </a:rPr>
              <a:t>High-risk patients : 72 shows a considerable number of patients require immediate medical attention or monitoring.</a:t>
            </a:r>
          </a:p>
          <a:p>
            <a:pPr algn="just"/>
            <a:r>
              <a:rPr lang="en-US" sz="3200" dirty="0">
                <a:latin typeface="Times New Roman" panose="02020603050405020304" pitchFamily="18" charset="0"/>
                <a:cs typeface="Times New Roman" panose="02020603050405020304" pitchFamily="18" charset="0"/>
              </a:rPr>
              <a:t>Maximum heart rate recorded : 202 indicates extremely high heart rate values may indicate cardiac stress during exertion. </a:t>
            </a:r>
          </a:p>
          <a:p>
            <a:endParaRPr lang="en-IN" dirty="0"/>
          </a:p>
        </p:txBody>
      </p:sp>
      <p:pic>
        <p:nvPicPr>
          <p:cNvPr id="4" name="Picture 2" descr="Heart beating 3D models download,3D ...">
            <a:extLst>
              <a:ext uri="{FF2B5EF4-FFF2-40B4-BE49-F238E27FC236}">
                <a16:creationId xmlns:a16="http://schemas.microsoft.com/office/drawing/2014/main" id="{7937E8D2-2E10-B3FC-9907-1AEDCBE2B4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461" y="278285"/>
            <a:ext cx="805503" cy="805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2627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9BF82-C525-B28B-F23B-AAE848728792}"/>
              </a:ext>
            </a:extLst>
          </p:cNvPr>
          <p:cNvSpPr>
            <a:spLocks noGrp="1"/>
          </p:cNvSpPr>
          <p:nvPr>
            <p:ph type="title"/>
          </p:nvPr>
        </p:nvSpPr>
        <p:spPr>
          <a:xfrm>
            <a:off x="1091380" y="381818"/>
            <a:ext cx="9731477" cy="598436"/>
          </a:xfrm>
        </p:spPr>
        <p:txBody>
          <a:bodyPr>
            <a:normAutofit/>
          </a:bodyPr>
          <a:lstStyle/>
          <a:p>
            <a:r>
              <a:rPr lang="en-US" sz="2400" b="1" dirty="0">
                <a:solidFill>
                  <a:srgbClr val="C00000"/>
                </a:solidFill>
                <a:highlight>
                  <a:srgbClr val="00FFFF"/>
                </a:highlight>
                <a:latin typeface="Times New Roman" panose="02020603050405020304" pitchFamily="18" charset="0"/>
                <a:cs typeface="Times New Roman" panose="02020603050405020304" pitchFamily="18" charset="0"/>
              </a:rPr>
              <a:t>RECOMMENDATION</a:t>
            </a:r>
            <a:endParaRPr lang="en-IN" sz="2400" b="1" dirty="0">
              <a:solidFill>
                <a:srgbClr val="C00000"/>
              </a:solidFill>
              <a:highlight>
                <a:srgbClr val="00FFFF"/>
              </a:highligh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02A936-7FDA-6EF0-B2F8-06266B236631}"/>
              </a:ext>
            </a:extLst>
          </p:cNvPr>
          <p:cNvSpPr>
            <a:spLocks noGrp="1"/>
          </p:cNvSpPr>
          <p:nvPr>
            <p:ph idx="1"/>
          </p:nvPr>
        </p:nvSpPr>
        <p:spPr>
          <a:xfrm>
            <a:off x="570272" y="1187321"/>
            <a:ext cx="11392758" cy="5599461"/>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Conduct regular cardiac screenings for individuals above 45 years &amp; promote preventive checkups for middle-aged &amp; elderly populations.</a:t>
            </a:r>
          </a:p>
          <a:p>
            <a:r>
              <a:rPr lang="en-US" dirty="0">
                <a:latin typeface="Times New Roman" panose="02020603050405020304" pitchFamily="18" charset="0"/>
                <a:cs typeface="Times New Roman" panose="02020603050405020304" pitchFamily="18" charset="0"/>
              </a:rPr>
              <a:t>Introduce targeted awareness programs for men focusing on lifestyle risks.</a:t>
            </a:r>
          </a:p>
          <a:p>
            <a:r>
              <a:rPr lang="en-US" dirty="0">
                <a:latin typeface="Times New Roman" panose="02020603050405020304" pitchFamily="18" charset="0"/>
                <a:cs typeface="Times New Roman" panose="02020603050405020304" pitchFamily="18" charset="0"/>
              </a:rPr>
              <a:t>Encourage early testing even when symptoms are mild.</a:t>
            </a:r>
          </a:p>
          <a:p>
            <a:r>
              <a:rPr lang="en-US" dirty="0">
                <a:latin typeface="Times New Roman" panose="02020603050405020304" pitchFamily="18" charset="0"/>
                <a:cs typeface="Times New Roman" panose="02020603050405020304" pitchFamily="18" charset="0"/>
              </a:rPr>
              <a:t>Doctors should not rely only on classic chest pain symptoms.</a:t>
            </a:r>
          </a:p>
          <a:p>
            <a:r>
              <a:rPr lang="en-US" dirty="0">
                <a:latin typeface="Times New Roman" panose="02020603050405020304" pitchFamily="18" charset="0"/>
                <a:cs typeface="Times New Roman" panose="02020603050405020304" pitchFamily="18" charset="0"/>
              </a:rPr>
              <a:t>Use ECG, Stress tests &amp;  Cholesterol analysis for early detection.</a:t>
            </a:r>
          </a:p>
          <a:p>
            <a:r>
              <a:rPr lang="en-US" dirty="0">
                <a:latin typeface="Times New Roman" panose="02020603050405020304" pitchFamily="18" charset="0"/>
                <a:cs typeface="Times New Roman" panose="02020603050405020304" pitchFamily="18" charset="0"/>
              </a:rPr>
              <a:t>Regular lipid profile tests for patients above 40.</a:t>
            </a:r>
          </a:p>
          <a:p>
            <a:r>
              <a:rPr lang="en-US" dirty="0">
                <a:latin typeface="Times New Roman" panose="02020603050405020304" pitchFamily="18" charset="0"/>
                <a:cs typeface="Times New Roman" panose="02020603050405020304" pitchFamily="18" charset="0"/>
              </a:rPr>
              <a:t>Promote diet control &amp; meditation adherence for high cholesterol patients.</a:t>
            </a:r>
          </a:p>
          <a:p>
            <a:r>
              <a:rPr lang="en-US" dirty="0">
                <a:latin typeface="Times New Roman" panose="02020603050405020304" pitchFamily="18" charset="0"/>
                <a:cs typeface="Times New Roman" panose="02020603050405020304" pitchFamily="18" charset="0"/>
              </a:rPr>
              <a:t>Prioritize high risk patients for immediate intervention.</a:t>
            </a:r>
          </a:p>
          <a:p>
            <a:r>
              <a:rPr lang="en-US" dirty="0">
                <a:latin typeface="Times New Roman" panose="02020603050405020304" pitchFamily="18" charset="0"/>
                <a:cs typeface="Times New Roman" panose="02020603050405020304" pitchFamily="18" charset="0"/>
              </a:rPr>
              <a:t>Implement continuous monitoring systems for the high- risk patient  individuals.</a:t>
            </a:r>
          </a:p>
          <a:p>
            <a:r>
              <a:rPr lang="en-US" dirty="0">
                <a:latin typeface="Times New Roman" panose="02020603050405020304" pitchFamily="18" charset="0"/>
                <a:cs typeface="Times New Roman" panose="02020603050405020304" pitchFamily="18" charset="0"/>
              </a:rPr>
              <a:t>Advise patients to follow medically supervised exercise plans &amp; avoid intense workouts without prior cardiac evaluation.</a:t>
            </a:r>
          </a:p>
          <a:p>
            <a:r>
              <a:rPr lang="en-US" dirty="0">
                <a:latin typeface="Times New Roman" panose="02020603050405020304" pitchFamily="18" charset="0"/>
                <a:cs typeface="Times New Roman" panose="02020603050405020304" pitchFamily="18" charset="0"/>
              </a:rPr>
              <a:t>High disease percentage(54.3%) suggests a serious public health concern so Government &amp; healthcare bodies should invest in early screening programs.</a:t>
            </a:r>
          </a:p>
          <a:p>
            <a:r>
              <a:rPr lang="en-US" dirty="0">
                <a:latin typeface="Times New Roman" panose="02020603050405020304" pitchFamily="18" charset="0"/>
                <a:cs typeface="Times New Roman" panose="02020603050405020304" pitchFamily="18" charset="0"/>
              </a:rPr>
              <a:t>Promote heart-health education campaign at community level.</a:t>
            </a:r>
          </a:p>
          <a:p>
            <a:endParaRPr lang="en-IN" sz="2400" dirty="0">
              <a:latin typeface="Times New Roman" panose="02020603050405020304" pitchFamily="18" charset="0"/>
              <a:cs typeface="Times New Roman" panose="02020603050405020304" pitchFamily="18" charset="0"/>
            </a:endParaRPr>
          </a:p>
        </p:txBody>
      </p:sp>
      <p:pic>
        <p:nvPicPr>
          <p:cNvPr id="4" name="Picture 2" descr="Heart beating 3D models download,3D ...">
            <a:extLst>
              <a:ext uri="{FF2B5EF4-FFF2-40B4-BE49-F238E27FC236}">
                <a16:creationId xmlns:a16="http://schemas.microsoft.com/office/drawing/2014/main" id="{6B2462F3-19A3-5083-7899-7BD71B6463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790" y="278285"/>
            <a:ext cx="805503" cy="805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257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01985-3072-7CB7-04AC-C83A448CB6D6}"/>
              </a:ext>
            </a:extLst>
          </p:cNvPr>
          <p:cNvSpPr>
            <a:spLocks noGrp="1"/>
          </p:cNvSpPr>
          <p:nvPr>
            <p:ph type="title"/>
          </p:nvPr>
        </p:nvSpPr>
        <p:spPr>
          <a:xfrm>
            <a:off x="838200" y="491614"/>
            <a:ext cx="10515600" cy="3569109"/>
          </a:xfrm>
        </p:spPr>
        <p:txBody>
          <a:bodyPr/>
          <a:lstStyle/>
          <a:p>
            <a:pPr algn="ctr"/>
            <a:r>
              <a:rPr lang="en-US" dirty="0">
                <a:solidFill>
                  <a:srgbClr val="C00000"/>
                </a:solidFill>
                <a:highlight>
                  <a:srgbClr val="00FFFF"/>
                </a:highlight>
                <a:latin typeface="Algerian" panose="04020705040A02060702" pitchFamily="82" charset="0"/>
                <a:cs typeface="Times New Roman" panose="02020603050405020304" pitchFamily="18" charset="0"/>
              </a:rPr>
              <a:t>THANK YOU</a:t>
            </a:r>
            <a:endParaRPr lang="en-IN" dirty="0">
              <a:solidFill>
                <a:srgbClr val="C00000"/>
              </a:solidFill>
              <a:highlight>
                <a:srgbClr val="00FFFF"/>
              </a:highlight>
              <a:latin typeface="Algerian" panose="04020705040A02060702" pitchFamily="8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1A95BBF-3FBA-F783-A023-EE14423EC3C0}"/>
              </a:ext>
            </a:extLst>
          </p:cNvPr>
          <p:cNvSpPr>
            <a:spLocks noGrp="1"/>
          </p:cNvSpPr>
          <p:nvPr>
            <p:ph idx="1"/>
          </p:nvPr>
        </p:nvSpPr>
        <p:spPr>
          <a:xfrm>
            <a:off x="995515" y="3775587"/>
            <a:ext cx="10515600" cy="825910"/>
          </a:xfrm>
        </p:spPr>
        <p:txBody>
          <a:bodyPr>
            <a:normAutofit/>
          </a:bodyPr>
          <a:lstStyle/>
          <a:p>
            <a:pPr marL="0" indent="0" algn="ctr">
              <a:buNone/>
            </a:pPr>
            <a:r>
              <a:rPr lang="en-US" sz="4400" dirty="0">
                <a:solidFill>
                  <a:srgbClr val="C00000"/>
                </a:solidFill>
                <a:highlight>
                  <a:srgbClr val="00FFFF"/>
                </a:highlight>
                <a:latin typeface="Algerian" panose="04020705040A02060702" pitchFamily="82" charset="0"/>
                <a:cs typeface="Times New Roman" panose="02020603050405020304" pitchFamily="18" charset="0"/>
              </a:rPr>
              <a:t>FOR THE ATTENTION</a:t>
            </a:r>
            <a:endParaRPr lang="en-IN" sz="4400" dirty="0">
              <a:solidFill>
                <a:srgbClr val="C00000"/>
              </a:solidFill>
              <a:highlight>
                <a:srgbClr val="00FFFF"/>
              </a:highlight>
              <a:latin typeface="Algerian" panose="04020705040A02060702" pitchFamily="82" charset="0"/>
              <a:cs typeface="Times New Roman" panose="02020603050405020304" pitchFamily="18" charset="0"/>
            </a:endParaRPr>
          </a:p>
        </p:txBody>
      </p:sp>
      <p:pic>
        <p:nvPicPr>
          <p:cNvPr id="4" name="Picture 2" descr="Heart beating 3D models download,3D ...">
            <a:extLst>
              <a:ext uri="{FF2B5EF4-FFF2-40B4-BE49-F238E27FC236}">
                <a16:creationId xmlns:a16="http://schemas.microsoft.com/office/drawing/2014/main" id="{085E1A9F-F992-EA78-4AD3-045F3AA0DB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518" y="1396551"/>
            <a:ext cx="2032449" cy="20324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eart beating 3D models download,3D ...">
            <a:extLst>
              <a:ext uri="{FF2B5EF4-FFF2-40B4-BE49-F238E27FC236}">
                <a16:creationId xmlns:a16="http://schemas.microsoft.com/office/drawing/2014/main" id="{998E0C4C-8FE3-5B90-429A-0AECACAB28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9033" y="1381803"/>
            <a:ext cx="2032449" cy="2032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040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716</Words>
  <Application>Microsoft Office PowerPoint</Application>
  <PresentationFormat>Widescreen</PresentationFormat>
  <Paragraphs>60</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Algerian</vt:lpstr>
      <vt:lpstr>Arial</vt:lpstr>
      <vt:lpstr>Calibri</vt:lpstr>
      <vt:lpstr>Calibri Light</vt:lpstr>
      <vt:lpstr>Times New Roman</vt:lpstr>
      <vt:lpstr>Office Theme</vt:lpstr>
      <vt:lpstr>HEART DISEASE DATASET ANALYSIS</vt:lpstr>
      <vt:lpstr>PROJECT OVERVIEW</vt:lpstr>
      <vt:lpstr>DATA DESCRIPTION &amp; PREPROCESSING</vt:lpstr>
      <vt:lpstr>CLEANING &amp; HANDLING MISSING VALUES</vt:lpstr>
      <vt:lpstr>KEY METRICS CALCULATIONS</vt:lpstr>
      <vt:lpstr>DAX CALCULATIONS</vt:lpstr>
      <vt:lpstr>CHARTS &amp; VISUALIZATION</vt:lpstr>
      <vt:lpstr>DASHBOARD OVERVIEW</vt:lpstr>
      <vt:lpstr>RESEARCHED INSIGHTS</vt:lpstr>
      <vt:lpstr>RECOMMENDATION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Prinesh Rout</dc:creator>
  <cp:lastModifiedBy>Prinesh Rout</cp:lastModifiedBy>
  <cp:revision>2</cp:revision>
  <dcterms:created xsi:type="dcterms:W3CDTF">2026-01-28T06:30:18Z</dcterms:created>
  <dcterms:modified xsi:type="dcterms:W3CDTF">2026-01-30T06:36:50Z</dcterms:modified>
</cp:coreProperties>
</file>